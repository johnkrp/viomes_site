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4" r:id="rId6"/>
    <p:sldId id="263" r:id="rId7"/>
    <p:sldId id="260" r:id="rId8"/>
    <p:sldId id="261" r:id="rId9"/>
    <p:sldId id="262" r:id="rId10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32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5E62-B484-493E-8287-9E48C1EEFEB2}" type="datetimeFigureOut">
              <a:rPr lang="el-GR" smtClean="0"/>
              <a:t>22/4/2026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1D30E-7E31-405E-B406-19D0BFEECAB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07177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5E62-B484-493E-8287-9E48C1EEFEB2}" type="datetimeFigureOut">
              <a:rPr lang="el-GR" smtClean="0"/>
              <a:t>22/4/2026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1D30E-7E31-405E-B406-19D0BFEECAB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37414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5E62-B484-493E-8287-9E48C1EEFEB2}" type="datetimeFigureOut">
              <a:rPr lang="el-GR" smtClean="0"/>
              <a:t>22/4/2026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1D30E-7E31-405E-B406-19D0BFEECAB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28464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5E62-B484-493E-8287-9E48C1EEFEB2}" type="datetimeFigureOut">
              <a:rPr lang="el-GR" smtClean="0"/>
              <a:t>22/4/2026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1D30E-7E31-405E-B406-19D0BFEECAB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05293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5E62-B484-493E-8287-9E48C1EEFEB2}" type="datetimeFigureOut">
              <a:rPr lang="el-GR" smtClean="0"/>
              <a:t>22/4/2026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1D30E-7E31-405E-B406-19D0BFEECAB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32306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5E62-B484-493E-8287-9E48C1EEFEB2}" type="datetimeFigureOut">
              <a:rPr lang="el-GR" smtClean="0"/>
              <a:t>22/4/2026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1D30E-7E31-405E-B406-19D0BFEECAB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0950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5E62-B484-493E-8287-9E48C1EEFEB2}" type="datetimeFigureOut">
              <a:rPr lang="el-GR" smtClean="0"/>
              <a:t>22/4/2026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1D30E-7E31-405E-B406-19D0BFEECAB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81993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5E62-B484-493E-8287-9E48C1EEFEB2}" type="datetimeFigureOut">
              <a:rPr lang="el-GR" smtClean="0"/>
              <a:t>22/4/2026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1D30E-7E31-405E-B406-19D0BFEECAB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17461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5E62-B484-493E-8287-9E48C1EEFEB2}" type="datetimeFigureOut">
              <a:rPr lang="el-GR" smtClean="0"/>
              <a:t>22/4/2026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1D30E-7E31-405E-B406-19D0BFEECAB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10911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5E62-B484-493E-8287-9E48C1EEFEB2}" type="datetimeFigureOut">
              <a:rPr lang="el-GR" smtClean="0"/>
              <a:t>22/4/2026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1D30E-7E31-405E-B406-19D0BFEECAB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0633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5E62-B484-493E-8287-9E48C1EEFEB2}" type="datetimeFigureOut">
              <a:rPr lang="el-GR" smtClean="0"/>
              <a:t>22/4/2026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1D30E-7E31-405E-B406-19D0BFEECAB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7566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415E62-B484-493E-8287-9E48C1EEFEB2}" type="datetimeFigureOut">
              <a:rPr lang="el-GR" smtClean="0"/>
              <a:t>22/4/2026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11D30E-7E31-405E-B406-19D0BFEECAB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3199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1D8611-40C6-3FEB-0559-D8C80D8E8012}"/>
              </a:ext>
            </a:extLst>
          </p:cNvPr>
          <p:cNvSpPr txBox="1"/>
          <p:nvPr/>
        </p:nvSpPr>
        <p:spPr>
          <a:xfrm>
            <a:off x="-9331" y="-22324"/>
            <a:ext cx="1670180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highlight>
                  <a:srgbClr val="800080"/>
                </a:highlight>
              </a:rPr>
              <a:t>HOME PAGE</a:t>
            </a:r>
            <a:endParaRPr lang="el-GR" sz="1400" dirty="0">
              <a:solidFill>
                <a:schemeClr val="bg1"/>
              </a:solidFill>
              <a:highlight>
                <a:srgbClr val="80008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2D60DD-4CE6-9446-17B0-7FF403ABDF1D}"/>
              </a:ext>
            </a:extLst>
          </p:cNvPr>
          <p:cNvSpPr txBox="1"/>
          <p:nvPr/>
        </p:nvSpPr>
        <p:spPr>
          <a:xfrm>
            <a:off x="2453951" y="474122"/>
            <a:ext cx="19780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LOGO</a:t>
            </a:r>
            <a:endParaRPr lang="el-G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A11E16-85A1-C668-0727-2C5D4B48F6E0}"/>
              </a:ext>
            </a:extLst>
          </p:cNvPr>
          <p:cNvSpPr txBox="1"/>
          <p:nvPr/>
        </p:nvSpPr>
        <p:spPr>
          <a:xfrm>
            <a:off x="2211355" y="2000848"/>
            <a:ext cx="2435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SCROLLING BANNERS</a:t>
            </a:r>
            <a:endParaRPr lang="el-GR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E952762-F4FA-3C97-EED7-AC9DCE430BB4}"/>
              </a:ext>
            </a:extLst>
          </p:cNvPr>
          <p:cNvSpPr/>
          <p:nvPr/>
        </p:nvSpPr>
        <p:spPr>
          <a:xfrm>
            <a:off x="618154" y="1067791"/>
            <a:ext cx="5649684" cy="23297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" name="Ορθογώνιο 1">
            <a:extLst>
              <a:ext uri="{FF2B5EF4-FFF2-40B4-BE49-F238E27FC236}">
                <a16:creationId xmlns:a16="http://schemas.microsoft.com/office/drawing/2014/main" id="{DDEF8874-A08D-2AF7-B73B-50239C072A48}"/>
              </a:ext>
            </a:extLst>
          </p:cNvPr>
          <p:cNvSpPr/>
          <p:nvPr/>
        </p:nvSpPr>
        <p:spPr>
          <a:xfrm>
            <a:off x="389549" y="3796952"/>
            <a:ext cx="1293843" cy="16274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" name="Ορθογώνιο 2">
            <a:extLst>
              <a:ext uri="{FF2B5EF4-FFF2-40B4-BE49-F238E27FC236}">
                <a16:creationId xmlns:a16="http://schemas.microsoft.com/office/drawing/2014/main" id="{51D65636-EFD2-8643-BF1C-8CED2C13F6A8}"/>
              </a:ext>
            </a:extLst>
          </p:cNvPr>
          <p:cNvSpPr/>
          <p:nvPr/>
        </p:nvSpPr>
        <p:spPr>
          <a:xfrm>
            <a:off x="1957095" y="3807227"/>
            <a:ext cx="1293843" cy="16274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b="1" dirty="0"/>
          </a:p>
        </p:txBody>
      </p:sp>
      <p:sp>
        <p:nvSpPr>
          <p:cNvPr id="8" name="Ορθογώνιο 7">
            <a:extLst>
              <a:ext uri="{FF2B5EF4-FFF2-40B4-BE49-F238E27FC236}">
                <a16:creationId xmlns:a16="http://schemas.microsoft.com/office/drawing/2014/main" id="{DDC73FCA-C3EA-9C43-6621-4650FD6E7FBB}"/>
              </a:ext>
            </a:extLst>
          </p:cNvPr>
          <p:cNvSpPr/>
          <p:nvPr/>
        </p:nvSpPr>
        <p:spPr>
          <a:xfrm>
            <a:off x="3524641" y="3796951"/>
            <a:ext cx="1293843" cy="16274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875DF3BE-5963-2522-614A-505E378C4226}"/>
              </a:ext>
            </a:extLst>
          </p:cNvPr>
          <p:cNvSpPr/>
          <p:nvPr/>
        </p:nvSpPr>
        <p:spPr>
          <a:xfrm>
            <a:off x="5078964" y="3796951"/>
            <a:ext cx="1293843" cy="16274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5AEFFC-A29E-8861-A13B-BF4ED766B54A}"/>
              </a:ext>
            </a:extLst>
          </p:cNvPr>
          <p:cNvSpPr txBox="1"/>
          <p:nvPr/>
        </p:nvSpPr>
        <p:spPr>
          <a:xfrm>
            <a:off x="376331" y="4391223"/>
            <a:ext cx="1293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ΚΟΥΖΙΝΑ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A85132-9D38-D1FB-7424-AB8C9AE0DACC}"/>
              </a:ext>
            </a:extLst>
          </p:cNvPr>
          <p:cNvSpPr txBox="1"/>
          <p:nvPr/>
        </p:nvSpPr>
        <p:spPr>
          <a:xfrm>
            <a:off x="1970318" y="4391223"/>
            <a:ext cx="1293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ΜΠΑΝΙΟ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B95C14-2FDD-FD1B-24B8-83D6354C36DC}"/>
              </a:ext>
            </a:extLst>
          </p:cNvPr>
          <p:cNvSpPr txBox="1"/>
          <p:nvPr/>
        </p:nvSpPr>
        <p:spPr>
          <a:xfrm>
            <a:off x="3537864" y="4390103"/>
            <a:ext cx="1293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200" dirty="0"/>
              <a:t>ΚΑΘΑΡΙΟΤΗΤΑ &amp; ΟΡΓΑΝΩΣΗ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539AEE-D87B-5A2F-7FBE-FE15EBA9A3A1}"/>
              </a:ext>
            </a:extLst>
          </p:cNvPr>
          <p:cNvSpPr txBox="1"/>
          <p:nvPr/>
        </p:nvSpPr>
        <p:spPr>
          <a:xfrm>
            <a:off x="5092187" y="4391223"/>
            <a:ext cx="1293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ΚΗΠΟΣ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87B827-3432-3185-1D81-1C54EBDE15B0}"/>
              </a:ext>
            </a:extLst>
          </p:cNvPr>
          <p:cNvSpPr txBox="1"/>
          <p:nvPr/>
        </p:nvSpPr>
        <p:spPr>
          <a:xfrm>
            <a:off x="415996" y="474122"/>
            <a:ext cx="182335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CONTACT INFO</a:t>
            </a:r>
            <a:endParaRPr lang="el-GR" sz="1400" dirty="0"/>
          </a:p>
        </p:txBody>
      </p:sp>
      <p:sp>
        <p:nvSpPr>
          <p:cNvPr id="17" name="Ορθογώνιο 16">
            <a:extLst>
              <a:ext uri="{FF2B5EF4-FFF2-40B4-BE49-F238E27FC236}">
                <a16:creationId xmlns:a16="http://schemas.microsoft.com/office/drawing/2014/main" id="{CAE41DF3-4285-1924-CE4C-2F87E0B8EAE6}"/>
              </a:ext>
            </a:extLst>
          </p:cNvPr>
          <p:cNvSpPr/>
          <p:nvPr/>
        </p:nvSpPr>
        <p:spPr>
          <a:xfrm>
            <a:off x="604156" y="5782102"/>
            <a:ext cx="5649684" cy="7425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B639A0-1186-EE2C-FB85-AA31C7150FEF}"/>
              </a:ext>
            </a:extLst>
          </p:cNvPr>
          <p:cNvSpPr txBox="1"/>
          <p:nvPr/>
        </p:nvSpPr>
        <p:spPr>
          <a:xfrm>
            <a:off x="2211355" y="5869433"/>
            <a:ext cx="2435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BEST SELLERS</a:t>
            </a:r>
            <a:endParaRPr lang="el-GR" dirty="0"/>
          </a:p>
        </p:txBody>
      </p:sp>
      <p:sp>
        <p:nvSpPr>
          <p:cNvPr id="20" name="Ορθογώνιο 19">
            <a:extLst>
              <a:ext uri="{FF2B5EF4-FFF2-40B4-BE49-F238E27FC236}">
                <a16:creationId xmlns:a16="http://schemas.microsoft.com/office/drawing/2014/main" id="{0831F454-6CF3-C94E-BDED-D0157CDA704D}"/>
              </a:ext>
            </a:extLst>
          </p:cNvPr>
          <p:cNvSpPr/>
          <p:nvPr/>
        </p:nvSpPr>
        <p:spPr>
          <a:xfrm>
            <a:off x="595992" y="6951097"/>
            <a:ext cx="5649684" cy="971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F9D139-15FA-E2B1-9C84-7F5E9AC531FD}"/>
              </a:ext>
            </a:extLst>
          </p:cNvPr>
          <p:cNvSpPr txBox="1"/>
          <p:nvPr/>
        </p:nvSpPr>
        <p:spPr>
          <a:xfrm>
            <a:off x="2313608" y="7175433"/>
            <a:ext cx="2435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ΚΟΡΥΦΑΙΑ ΠΟΙΟΤΗΤΑ ΜΕ ΠΡΑΣΙΝΗ ΥΠΟΣΧΕΣΗ</a:t>
            </a:r>
          </a:p>
        </p:txBody>
      </p:sp>
      <p:sp>
        <p:nvSpPr>
          <p:cNvPr id="23" name="Ορθογώνιο 22">
            <a:extLst>
              <a:ext uri="{FF2B5EF4-FFF2-40B4-BE49-F238E27FC236}">
                <a16:creationId xmlns:a16="http://schemas.microsoft.com/office/drawing/2014/main" id="{4C878D72-EBC6-E65A-12DD-DF8EC01A64FB}"/>
              </a:ext>
            </a:extLst>
          </p:cNvPr>
          <p:cNvSpPr/>
          <p:nvPr/>
        </p:nvSpPr>
        <p:spPr>
          <a:xfrm>
            <a:off x="569169" y="8352262"/>
            <a:ext cx="5649684" cy="971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1B7585-5D23-D896-88E2-8DE7176EE9D4}"/>
              </a:ext>
            </a:extLst>
          </p:cNvPr>
          <p:cNvSpPr txBox="1"/>
          <p:nvPr/>
        </p:nvSpPr>
        <p:spPr>
          <a:xfrm>
            <a:off x="2203190" y="8668922"/>
            <a:ext cx="2435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FOOTER</a:t>
            </a:r>
            <a:endParaRPr lang="el-GR" sz="1400" dirty="0"/>
          </a:p>
        </p:txBody>
      </p:sp>
      <p:pic>
        <p:nvPicPr>
          <p:cNvPr id="30" name="Γραφικό 29" descr="Μεγεθυντικός φακός περίγραμμα">
            <a:extLst>
              <a:ext uri="{FF2B5EF4-FFF2-40B4-BE49-F238E27FC236}">
                <a16:creationId xmlns:a16="http://schemas.microsoft.com/office/drawing/2014/main" id="{5DB64DAE-588F-4460-1E5A-D3E633D671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71100" y="504899"/>
            <a:ext cx="307777" cy="30777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2D4831D-C3DA-6918-D0A9-44896623FB93}"/>
              </a:ext>
            </a:extLst>
          </p:cNvPr>
          <p:cNvSpPr txBox="1"/>
          <p:nvPr/>
        </p:nvSpPr>
        <p:spPr>
          <a:xfrm>
            <a:off x="4549455" y="483599"/>
            <a:ext cx="93694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Products</a:t>
            </a:r>
            <a:endParaRPr lang="el-GR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4BD4EA-9D26-8333-A994-6BE38FA4CEC9}"/>
              </a:ext>
            </a:extLst>
          </p:cNvPr>
          <p:cNvSpPr txBox="1"/>
          <p:nvPr/>
        </p:nvSpPr>
        <p:spPr>
          <a:xfrm>
            <a:off x="5564778" y="483599"/>
            <a:ext cx="65407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About</a:t>
            </a:r>
            <a:endParaRPr lang="el-GR" sz="1400" dirty="0"/>
          </a:p>
        </p:txBody>
      </p:sp>
    </p:spTree>
    <p:extLst>
      <p:ext uri="{BB962C8B-B14F-4D97-AF65-F5344CB8AC3E}">
        <p14:creationId xmlns:p14="http://schemas.microsoft.com/office/powerpoint/2010/main" val="2273251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404CA-7E96-6304-311E-6D4ED6D24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A15642-B519-83D2-B545-2851209C38F7}"/>
              </a:ext>
            </a:extLst>
          </p:cNvPr>
          <p:cNvSpPr txBox="1"/>
          <p:nvPr/>
        </p:nvSpPr>
        <p:spPr>
          <a:xfrm>
            <a:off x="-9331" y="-22324"/>
            <a:ext cx="1670180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highlight>
                  <a:srgbClr val="800080"/>
                </a:highlight>
              </a:rPr>
              <a:t>FOOTER</a:t>
            </a:r>
            <a:endParaRPr lang="el-GR" sz="1400" dirty="0">
              <a:solidFill>
                <a:schemeClr val="bg1"/>
              </a:solidFill>
              <a:highlight>
                <a:srgbClr val="80008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FB501F-B834-894B-10F0-5BA505321C25}"/>
              </a:ext>
            </a:extLst>
          </p:cNvPr>
          <p:cNvSpPr txBox="1"/>
          <p:nvPr/>
        </p:nvSpPr>
        <p:spPr>
          <a:xfrm>
            <a:off x="363118" y="765110"/>
            <a:ext cx="20247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/>
              <a:t>Επικοινωνία</a:t>
            </a:r>
          </a:p>
          <a:p>
            <a:r>
              <a:rPr lang="el-GR" sz="1400" dirty="0"/>
              <a:t>Τηλέφωνα </a:t>
            </a:r>
          </a:p>
          <a:p>
            <a:r>
              <a:rPr lang="el-GR" sz="1400" dirty="0"/>
              <a:t>Ωράριο </a:t>
            </a:r>
            <a:r>
              <a:rPr lang="el-GR" sz="1400" dirty="0" err="1"/>
              <a:t>τηλ</a:t>
            </a:r>
            <a:r>
              <a:rPr lang="el-GR" sz="1400" dirty="0"/>
              <a:t>. κέντρου</a:t>
            </a:r>
          </a:p>
          <a:p>
            <a:r>
              <a:rPr lang="en-US" sz="1400" dirty="0"/>
              <a:t>email </a:t>
            </a:r>
          </a:p>
          <a:p>
            <a:r>
              <a:rPr lang="el-GR" sz="1400" dirty="0"/>
              <a:t>Επισκεφθείτε το </a:t>
            </a:r>
            <a:r>
              <a:rPr lang="en-US" sz="1400" dirty="0" err="1"/>
              <a:t>Showrooom</a:t>
            </a:r>
            <a:endParaRPr lang="el-GR" sz="1400" dirty="0"/>
          </a:p>
          <a:p>
            <a:r>
              <a:rPr lang="en-US" sz="1400" dirty="0"/>
              <a:t>Social media</a:t>
            </a:r>
          </a:p>
          <a:p>
            <a:r>
              <a:rPr lang="en-US" sz="1400" dirty="0"/>
              <a:t>Blog </a:t>
            </a:r>
            <a:r>
              <a:rPr lang="el-GR" sz="1400" dirty="0"/>
              <a:t> </a:t>
            </a:r>
            <a:r>
              <a:rPr lang="el-GR" dirty="0"/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A858CF-9B30-70AD-821B-5D06B25CF5EC}"/>
              </a:ext>
            </a:extLst>
          </p:cNvPr>
          <p:cNvSpPr txBox="1"/>
          <p:nvPr/>
        </p:nvSpPr>
        <p:spPr>
          <a:xfrm>
            <a:off x="2505269" y="765110"/>
            <a:ext cx="18474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/>
              <a:t>Εξυπηρέτηση Πελατών</a:t>
            </a:r>
          </a:p>
          <a:p>
            <a:r>
              <a:rPr lang="el-GR" sz="1400" dirty="0"/>
              <a:t>Κατάλογοι </a:t>
            </a:r>
          </a:p>
          <a:p>
            <a:r>
              <a:rPr lang="el-GR" sz="1400" dirty="0"/>
              <a:t>Σημεία Πώλησης </a:t>
            </a:r>
          </a:p>
          <a:p>
            <a:r>
              <a:rPr lang="en-US" sz="1400" dirty="0"/>
              <a:t>B2B</a:t>
            </a:r>
          </a:p>
          <a:p>
            <a:r>
              <a:rPr lang="el-GR" sz="1400" dirty="0"/>
              <a:t>Υπηρεσίες</a:t>
            </a:r>
          </a:p>
          <a:p>
            <a:r>
              <a:rPr lang="en-US" sz="1400" dirty="0"/>
              <a:t>FAQs</a:t>
            </a:r>
            <a:endParaRPr lang="el-GR" sz="1400" dirty="0"/>
          </a:p>
          <a:p>
            <a:endParaRPr lang="el-GR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13F3D9-4649-E160-4A89-2AD76319515C}"/>
              </a:ext>
            </a:extLst>
          </p:cNvPr>
          <p:cNvSpPr txBox="1"/>
          <p:nvPr/>
        </p:nvSpPr>
        <p:spPr>
          <a:xfrm>
            <a:off x="4587550" y="765110"/>
            <a:ext cx="184746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/>
              <a:t>Σχετικά με εμάς </a:t>
            </a:r>
          </a:p>
          <a:p>
            <a:r>
              <a:rPr lang="en-US" sz="1400" dirty="0"/>
              <a:t>VIOMES</a:t>
            </a:r>
          </a:p>
          <a:p>
            <a:r>
              <a:rPr lang="en-US" sz="1400" dirty="0"/>
              <a:t>VERDIA</a:t>
            </a:r>
          </a:p>
          <a:p>
            <a:r>
              <a:rPr lang="en-US" sz="1400" dirty="0" err="1"/>
              <a:t>Kiklos</a:t>
            </a:r>
            <a:endParaRPr lang="el-GR" sz="1400" dirty="0"/>
          </a:p>
          <a:p>
            <a:r>
              <a:rPr lang="el-GR" sz="1400" dirty="0"/>
              <a:t>Τα νέα μας</a:t>
            </a:r>
            <a:endParaRPr lang="en-US" sz="1400" dirty="0"/>
          </a:p>
          <a:p>
            <a:r>
              <a:rPr lang="en-US" sz="1400" dirty="0"/>
              <a:t>Sustainability</a:t>
            </a:r>
            <a:endParaRPr lang="el-GR" sz="1400" dirty="0"/>
          </a:p>
          <a:p>
            <a:r>
              <a:rPr lang="el-GR" sz="1400" dirty="0"/>
              <a:t>Πιστοποιήσεις</a:t>
            </a:r>
            <a:endParaRPr lang="en-US" sz="1400" dirty="0"/>
          </a:p>
          <a:p>
            <a:r>
              <a:rPr lang="el-GR" sz="1400" dirty="0"/>
              <a:t>Ευκαιρίες Καριέρας </a:t>
            </a:r>
          </a:p>
          <a:p>
            <a:r>
              <a:rPr lang="en-US" sz="1400" dirty="0"/>
              <a:t>Whistleblowing</a:t>
            </a:r>
          </a:p>
          <a:p>
            <a:endParaRPr lang="el-GR" sz="1400" dirty="0"/>
          </a:p>
          <a:p>
            <a:endParaRPr lang="el-GR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A34AEB-5F76-8F1A-AB01-94800F5CEB89}"/>
              </a:ext>
            </a:extLst>
          </p:cNvPr>
          <p:cNvSpPr txBox="1"/>
          <p:nvPr/>
        </p:nvSpPr>
        <p:spPr>
          <a:xfrm>
            <a:off x="331237" y="3183759"/>
            <a:ext cx="593426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200" dirty="0"/>
              <a:t>Όροι Χρήσης    Πολιτική Απορρήτου     Πολιτική </a:t>
            </a:r>
            <a:r>
              <a:rPr lang="en-US" sz="1200" dirty="0"/>
              <a:t>Cookies  </a:t>
            </a:r>
            <a:r>
              <a:rPr lang="el-GR" sz="1200" dirty="0"/>
              <a:t>Χάρτης </a:t>
            </a:r>
            <a:r>
              <a:rPr lang="el-GR" sz="1200" dirty="0" err="1"/>
              <a:t>Ιστότοπου</a:t>
            </a:r>
            <a:r>
              <a:rPr lang="el-GR" sz="1200" dirty="0"/>
              <a:t> </a:t>
            </a:r>
            <a:endParaRPr lang="en-US" sz="1200" dirty="0"/>
          </a:p>
          <a:p>
            <a:endParaRPr lang="el-GR" sz="1400" dirty="0"/>
          </a:p>
        </p:txBody>
      </p:sp>
    </p:spTree>
    <p:extLst>
      <p:ext uri="{BB962C8B-B14F-4D97-AF65-F5344CB8AC3E}">
        <p14:creationId xmlns:p14="http://schemas.microsoft.com/office/powerpoint/2010/main" val="1691017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F22D3-67BD-9834-4FA8-D92908E72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53E4C8-A58A-27A3-B32C-76EA22A7CD13}"/>
              </a:ext>
            </a:extLst>
          </p:cNvPr>
          <p:cNvSpPr txBox="1"/>
          <p:nvPr/>
        </p:nvSpPr>
        <p:spPr>
          <a:xfrm>
            <a:off x="-9331" y="-22324"/>
            <a:ext cx="1670180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highlight>
                  <a:srgbClr val="800080"/>
                </a:highlight>
              </a:rPr>
              <a:t>MENU </a:t>
            </a:r>
            <a:r>
              <a:rPr lang="el-GR" sz="1400" dirty="0">
                <a:solidFill>
                  <a:schemeClr val="bg1"/>
                </a:solidFill>
                <a:highlight>
                  <a:srgbClr val="800080"/>
                </a:highlight>
              </a:rPr>
              <a:t>ΠΡΟΙΟΝΤΑ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2BA146-119E-1874-04A3-FCFF2B7A6DFB}"/>
              </a:ext>
            </a:extLst>
          </p:cNvPr>
          <p:cNvSpPr txBox="1"/>
          <p:nvPr/>
        </p:nvSpPr>
        <p:spPr>
          <a:xfrm>
            <a:off x="101860" y="850978"/>
            <a:ext cx="1293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ΠΡΟΪΟΝΤΑ 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DF34A4-4411-1CCD-E0CA-D0A8DB03406B}"/>
              </a:ext>
            </a:extLst>
          </p:cNvPr>
          <p:cNvSpPr txBox="1"/>
          <p:nvPr/>
        </p:nvSpPr>
        <p:spPr>
          <a:xfrm>
            <a:off x="1134445" y="850978"/>
            <a:ext cx="15667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ΚΟΥΖΙΝΑ &gt;</a:t>
            </a:r>
          </a:p>
          <a:p>
            <a:pPr algn="ctr"/>
            <a:r>
              <a:rPr lang="el-GR" sz="1400" dirty="0"/>
              <a:t>ΜΠΑΝΙΟ &gt;</a:t>
            </a:r>
          </a:p>
          <a:p>
            <a:pPr algn="ctr"/>
            <a:r>
              <a:rPr lang="el-GR" sz="1400" dirty="0"/>
              <a:t>ΚΑΘΑΡΙΟΤΗΤΑ &gt;</a:t>
            </a:r>
          </a:p>
          <a:p>
            <a:pPr algn="ctr"/>
            <a:r>
              <a:rPr lang="el-GR" sz="1400" dirty="0"/>
              <a:t>ΚΗΠΟΣ 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AB99AF-0910-A7BF-D46D-779AD771C69F}"/>
              </a:ext>
            </a:extLst>
          </p:cNvPr>
          <p:cNvSpPr txBox="1"/>
          <p:nvPr/>
        </p:nvSpPr>
        <p:spPr>
          <a:xfrm>
            <a:off x="84753" y="2254878"/>
            <a:ext cx="15667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>
                <a:solidFill>
                  <a:schemeClr val="accent2">
                    <a:lumMod val="75000"/>
                  </a:schemeClr>
                </a:solidFill>
              </a:rPr>
              <a:t>ΚΟΥΖΙΝΑ &gt;</a:t>
            </a:r>
          </a:p>
          <a:p>
            <a:pPr algn="ctr"/>
            <a:r>
              <a:rPr lang="el-GR" sz="1400" dirty="0"/>
              <a:t>ΜΠΑΝΙΟ</a:t>
            </a:r>
          </a:p>
          <a:p>
            <a:pPr algn="ctr"/>
            <a:r>
              <a:rPr lang="el-GR" sz="1400" dirty="0"/>
              <a:t>ΚΑΘΑΡΙΟΤΗΤΑ</a:t>
            </a:r>
          </a:p>
          <a:p>
            <a:pPr algn="ctr"/>
            <a:r>
              <a:rPr lang="el-GR" sz="1400" dirty="0"/>
              <a:t>ΚΗΠΟΣ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487651-0F34-7AB9-D4D7-9E58B4295DA7}"/>
              </a:ext>
            </a:extLst>
          </p:cNvPr>
          <p:cNvSpPr txBox="1"/>
          <p:nvPr/>
        </p:nvSpPr>
        <p:spPr>
          <a:xfrm>
            <a:off x="1677959" y="2254878"/>
            <a:ext cx="15667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ΦΑΓΗΤΟΔΟΧΕΙΑ</a:t>
            </a:r>
          </a:p>
          <a:p>
            <a:pPr algn="ctr"/>
            <a:r>
              <a:rPr lang="el-GR" sz="1400" dirty="0"/>
              <a:t>ΠΙΑΤΑ – ΠΟΤΗΡΙΑ</a:t>
            </a:r>
          </a:p>
          <a:p>
            <a:pPr algn="ctr"/>
            <a:r>
              <a:rPr lang="el-GR" sz="1400" dirty="0"/>
              <a:t>ΜΠΟΛ </a:t>
            </a:r>
          </a:p>
          <a:p>
            <a:pPr algn="ctr"/>
            <a:r>
              <a:rPr lang="el-GR" sz="1400" dirty="0"/>
              <a:t>ΕΡΓΑΛΕΙΑ</a:t>
            </a:r>
          </a:p>
          <a:p>
            <a:pPr algn="ctr"/>
            <a:r>
              <a:rPr lang="el-GR" sz="1400" dirty="0"/>
              <a:t>ΚΑΔΟΙ</a:t>
            </a:r>
          </a:p>
          <a:p>
            <a:pPr algn="ctr"/>
            <a:endParaRPr lang="el-GR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F086CA-154B-D6D0-BAF9-A4D593E62F62}"/>
              </a:ext>
            </a:extLst>
          </p:cNvPr>
          <p:cNvSpPr txBox="1"/>
          <p:nvPr/>
        </p:nvSpPr>
        <p:spPr>
          <a:xfrm>
            <a:off x="101860" y="3760120"/>
            <a:ext cx="15667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ΚΟΥΖΙΝΑ</a:t>
            </a:r>
          </a:p>
          <a:p>
            <a:pPr algn="ctr"/>
            <a:r>
              <a:rPr lang="el-GR" sz="1400" dirty="0">
                <a:solidFill>
                  <a:schemeClr val="accent2">
                    <a:lumMod val="75000"/>
                  </a:schemeClr>
                </a:solidFill>
              </a:rPr>
              <a:t>ΜΠΑΝΙΟ &gt;</a:t>
            </a:r>
          </a:p>
          <a:p>
            <a:pPr algn="ctr"/>
            <a:r>
              <a:rPr lang="el-GR" sz="1400" dirty="0"/>
              <a:t>ΚΑΘΑΡΙΟΤΗΤΑ</a:t>
            </a:r>
          </a:p>
          <a:p>
            <a:pPr algn="ctr"/>
            <a:r>
              <a:rPr lang="el-GR" sz="1400" dirty="0"/>
              <a:t>ΚΗΠΟΣ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DF1B66-31E4-A119-7363-D01769F346D5}"/>
              </a:ext>
            </a:extLst>
          </p:cNvPr>
          <p:cNvSpPr txBox="1"/>
          <p:nvPr/>
        </p:nvSpPr>
        <p:spPr>
          <a:xfrm>
            <a:off x="1395703" y="3760120"/>
            <a:ext cx="20224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ΠΕΝΤΑΛ </a:t>
            </a:r>
          </a:p>
          <a:p>
            <a:pPr algn="ctr"/>
            <a:r>
              <a:rPr lang="el-GR" sz="1400" dirty="0"/>
              <a:t>ΠΙΓΚΑΛ</a:t>
            </a:r>
          </a:p>
          <a:p>
            <a:pPr algn="ctr"/>
            <a:r>
              <a:rPr lang="el-GR" sz="1400" dirty="0"/>
              <a:t>ΚΑΠΑΚΙ ΤΟΥΑΛΕΤΑΣ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7A30FB-F118-E1A7-878F-BF71D080DA05}"/>
              </a:ext>
            </a:extLst>
          </p:cNvPr>
          <p:cNvSpPr txBox="1"/>
          <p:nvPr/>
        </p:nvSpPr>
        <p:spPr>
          <a:xfrm>
            <a:off x="101860" y="5164020"/>
            <a:ext cx="15667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ΚΟΥΖΙΝΑ</a:t>
            </a:r>
          </a:p>
          <a:p>
            <a:pPr algn="ctr"/>
            <a:r>
              <a:rPr lang="el-GR" sz="1400" dirty="0"/>
              <a:t>ΜΠΑΝΙΟ</a:t>
            </a:r>
          </a:p>
          <a:p>
            <a:pPr algn="ctr"/>
            <a:r>
              <a:rPr lang="el-GR" sz="1400" dirty="0">
                <a:solidFill>
                  <a:schemeClr val="accent2">
                    <a:lumMod val="75000"/>
                  </a:schemeClr>
                </a:solidFill>
              </a:rPr>
              <a:t>ΚΑΘΑΡΙΟΤΗΤΑ &gt;</a:t>
            </a:r>
          </a:p>
          <a:p>
            <a:pPr algn="ctr"/>
            <a:r>
              <a:rPr lang="el-GR" sz="1400" dirty="0"/>
              <a:t>ΚΗΠΟΣ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29AC57-2940-190A-835E-BAA7ABD9484D}"/>
              </a:ext>
            </a:extLst>
          </p:cNvPr>
          <p:cNvSpPr txBox="1"/>
          <p:nvPr/>
        </p:nvSpPr>
        <p:spPr>
          <a:xfrm>
            <a:off x="1651519" y="5164020"/>
            <a:ext cx="20993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ΚΟΥΒΑΔΕΣ</a:t>
            </a:r>
          </a:p>
          <a:p>
            <a:pPr algn="ctr"/>
            <a:r>
              <a:rPr lang="el-GR" sz="1400" dirty="0"/>
              <a:t>ΣΚΟΥΠΕΣ</a:t>
            </a:r>
          </a:p>
          <a:p>
            <a:pPr algn="ctr"/>
            <a:r>
              <a:rPr lang="el-GR" sz="1400" dirty="0"/>
              <a:t>ΦΑΡΑΣΙΑ</a:t>
            </a:r>
          </a:p>
          <a:p>
            <a:pPr algn="ctr"/>
            <a:r>
              <a:rPr lang="el-GR" sz="1400" dirty="0"/>
              <a:t>ΚΑΔΟΙ ΑΠΟΡΡΙΜΑΤΩΝ</a:t>
            </a:r>
          </a:p>
          <a:p>
            <a:pPr algn="ctr"/>
            <a:r>
              <a:rPr lang="el-GR" sz="1400" dirty="0"/>
              <a:t>ΚΑΔΟΙ ΑΝΑΚΥΚΛΩΣΗΣ</a:t>
            </a:r>
          </a:p>
          <a:p>
            <a:pPr algn="ctr"/>
            <a:r>
              <a:rPr lang="el-GR" sz="1400" dirty="0"/>
              <a:t>ΚΟΥΤΙΑ ΑΠΟΘΗΚΕΥΣΗΣ</a:t>
            </a:r>
          </a:p>
          <a:p>
            <a:pPr algn="ctr"/>
            <a:r>
              <a:rPr lang="el-GR" sz="1400" dirty="0"/>
              <a:t>ΚΑΛΑΘΙΑ</a:t>
            </a:r>
          </a:p>
          <a:p>
            <a:pPr algn="ctr"/>
            <a:r>
              <a:rPr lang="el-GR" sz="1400" dirty="0"/>
              <a:t>ΚΡΕΜΑΣΤΡΕΣ</a:t>
            </a:r>
          </a:p>
          <a:p>
            <a:pPr algn="ctr"/>
            <a:r>
              <a:rPr lang="el-GR" sz="1400" dirty="0"/>
              <a:t>ΛΟΙΠΟΣ ΕΞΟΠΛΙΣΜΟΣ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2B778A-00B9-3010-64D0-DF180DE85E10}"/>
              </a:ext>
            </a:extLst>
          </p:cNvPr>
          <p:cNvSpPr txBox="1"/>
          <p:nvPr/>
        </p:nvSpPr>
        <p:spPr>
          <a:xfrm>
            <a:off x="101860" y="7665806"/>
            <a:ext cx="15667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ΚΟΥΖΙΝΑ</a:t>
            </a:r>
          </a:p>
          <a:p>
            <a:pPr algn="ctr"/>
            <a:r>
              <a:rPr lang="el-GR" sz="1400" dirty="0"/>
              <a:t>ΜΠΑΝΙΟ</a:t>
            </a:r>
          </a:p>
          <a:p>
            <a:pPr algn="ctr"/>
            <a:r>
              <a:rPr lang="el-GR" sz="1400" dirty="0"/>
              <a:t>ΚΑΘΑΡΙΟΤΗΤΑ</a:t>
            </a:r>
          </a:p>
          <a:p>
            <a:pPr algn="ctr"/>
            <a:r>
              <a:rPr lang="el-GR" sz="1400" dirty="0">
                <a:solidFill>
                  <a:schemeClr val="accent2">
                    <a:lumMod val="75000"/>
                  </a:schemeClr>
                </a:solidFill>
              </a:rPr>
              <a:t>ΚΗΠΟΣ 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70D929-1167-543B-D8A3-CF9085ACECD2}"/>
              </a:ext>
            </a:extLst>
          </p:cNvPr>
          <p:cNvSpPr txBox="1"/>
          <p:nvPr/>
        </p:nvSpPr>
        <p:spPr>
          <a:xfrm>
            <a:off x="1541884" y="7665806"/>
            <a:ext cx="220902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ΓΛΑΣΤΡΕΣ</a:t>
            </a:r>
          </a:p>
          <a:p>
            <a:pPr algn="ctr"/>
            <a:r>
              <a:rPr lang="el-GR" sz="1400" dirty="0"/>
              <a:t>ΠΙΑΤΑΚΙΑ</a:t>
            </a:r>
          </a:p>
          <a:p>
            <a:pPr algn="ctr"/>
            <a:r>
              <a:rPr lang="el-GR" sz="1400" dirty="0"/>
              <a:t>ΕΠΙΠΛΑ ΚΗΠΟΥ</a:t>
            </a:r>
          </a:p>
          <a:p>
            <a:pPr algn="ctr"/>
            <a:r>
              <a:rPr lang="el-GR" sz="1400" dirty="0"/>
              <a:t>ΣΚΑΦΗ</a:t>
            </a:r>
          </a:p>
          <a:p>
            <a:pPr algn="ctr"/>
            <a:r>
              <a:rPr lang="el-GR" sz="1400" dirty="0"/>
              <a:t>ΛΑΣΤΙΧΟ ΠΟΤΙΣΜΑΤΟΣ</a:t>
            </a:r>
          </a:p>
        </p:txBody>
      </p:sp>
    </p:spTree>
    <p:extLst>
      <p:ext uri="{BB962C8B-B14F-4D97-AF65-F5344CB8AC3E}">
        <p14:creationId xmlns:p14="http://schemas.microsoft.com/office/powerpoint/2010/main" val="3393806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FB39-1416-12F9-E06B-A5814E2CD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5479CF-CBDE-063D-F547-330780E35C3F}"/>
              </a:ext>
            </a:extLst>
          </p:cNvPr>
          <p:cNvSpPr txBox="1"/>
          <p:nvPr/>
        </p:nvSpPr>
        <p:spPr>
          <a:xfrm>
            <a:off x="-9331" y="-22324"/>
            <a:ext cx="1670180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1400" dirty="0">
                <a:solidFill>
                  <a:schemeClr val="bg1"/>
                </a:solidFill>
                <a:highlight>
                  <a:srgbClr val="800080"/>
                </a:highlight>
              </a:rPr>
              <a:t>ΠΡΟΙΟΝΤΑ</a:t>
            </a:r>
          </a:p>
        </p:txBody>
      </p:sp>
      <p:sp>
        <p:nvSpPr>
          <p:cNvPr id="2" name="Ορθογώνιο 1">
            <a:extLst>
              <a:ext uri="{FF2B5EF4-FFF2-40B4-BE49-F238E27FC236}">
                <a16:creationId xmlns:a16="http://schemas.microsoft.com/office/drawing/2014/main" id="{C121F347-5247-63F9-AB5D-405A7A002248}"/>
              </a:ext>
            </a:extLst>
          </p:cNvPr>
          <p:cNvSpPr/>
          <p:nvPr/>
        </p:nvSpPr>
        <p:spPr>
          <a:xfrm>
            <a:off x="2135157" y="1031653"/>
            <a:ext cx="1293843" cy="16274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" name="Ορθογώνιο 2">
            <a:extLst>
              <a:ext uri="{FF2B5EF4-FFF2-40B4-BE49-F238E27FC236}">
                <a16:creationId xmlns:a16="http://schemas.microsoft.com/office/drawing/2014/main" id="{841F9C4A-7632-282F-F5ED-FE59AE07630A}"/>
              </a:ext>
            </a:extLst>
          </p:cNvPr>
          <p:cNvSpPr/>
          <p:nvPr/>
        </p:nvSpPr>
        <p:spPr>
          <a:xfrm>
            <a:off x="4184778" y="1031655"/>
            <a:ext cx="1293843" cy="16274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b="1" dirty="0"/>
          </a:p>
        </p:txBody>
      </p:sp>
      <p:sp>
        <p:nvSpPr>
          <p:cNvPr id="5" name="Ορθογώνιο 4">
            <a:extLst>
              <a:ext uri="{FF2B5EF4-FFF2-40B4-BE49-F238E27FC236}">
                <a16:creationId xmlns:a16="http://schemas.microsoft.com/office/drawing/2014/main" id="{F62E3EF6-A031-DA27-A845-002FE82AFAC4}"/>
              </a:ext>
            </a:extLst>
          </p:cNvPr>
          <p:cNvSpPr/>
          <p:nvPr/>
        </p:nvSpPr>
        <p:spPr>
          <a:xfrm>
            <a:off x="2135157" y="3172217"/>
            <a:ext cx="1293843" cy="16274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98A1F05C-8D25-E1F5-6121-A66819C36516}"/>
              </a:ext>
            </a:extLst>
          </p:cNvPr>
          <p:cNvSpPr/>
          <p:nvPr/>
        </p:nvSpPr>
        <p:spPr>
          <a:xfrm>
            <a:off x="4184777" y="3162982"/>
            <a:ext cx="1293843" cy="16274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6F7C9C-74F3-6D86-180E-6905AC7A387C}"/>
              </a:ext>
            </a:extLst>
          </p:cNvPr>
          <p:cNvSpPr txBox="1"/>
          <p:nvPr/>
        </p:nvSpPr>
        <p:spPr>
          <a:xfrm>
            <a:off x="2172478" y="1699510"/>
            <a:ext cx="1293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ΚΟΥΖΙΝΑ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46B1B5-5973-CA61-744A-AD9F1C299095}"/>
              </a:ext>
            </a:extLst>
          </p:cNvPr>
          <p:cNvSpPr txBox="1"/>
          <p:nvPr/>
        </p:nvSpPr>
        <p:spPr>
          <a:xfrm>
            <a:off x="4184778" y="1699510"/>
            <a:ext cx="1293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ΜΠΑΝΙΟ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F7DAF-C89C-D512-BD6B-D4A1EFF8C870}"/>
              </a:ext>
            </a:extLst>
          </p:cNvPr>
          <p:cNvSpPr txBox="1"/>
          <p:nvPr/>
        </p:nvSpPr>
        <p:spPr>
          <a:xfrm>
            <a:off x="2135156" y="3814769"/>
            <a:ext cx="1293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200" dirty="0"/>
              <a:t>ΚΑΘΑΡΙΟΤΗΤΑ &amp; ΟΡΓΑΝΩΣΗ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16B59C-95C2-FEEE-D21A-19DE2EC4174E}"/>
              </a:ext>
            </a:extLst>
          </p:cNvPr>
          <p:cNvSpPr txBox="1"/>
          <p:nvPr/>
        </p:nvSpPr>
        <p:spPr>
          <a:xfrm>
            <a:off x="4184776" y="3814769"/>
            <a:ext cx="1293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ΚΗΠΟΣ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E3E8F7-E7C6-FB39-4361-F6486674A16E}"/>
              </a:ext>
            </a:extLst>
          </p:cNvPr>
          <p:cNvSpPr txBox="1"/>
          <p:nvPr/>
        </p:nvSpPr>
        <p:spPr>
          <a:xfrm>
            <a:off x="214604" y="1008947"/>
            <a:ext cx="14462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dirty="0"/>
              <a:t>Ίσως είναι και περιττή αυτή η σελίδα. Αν κρατήσουμε μόνο το </a:t>
            </a:r>
            <a:r>
              <a:rPr lang="en-US" sz="1200" dirty="0"/>
              <a:t>navigation </a:t>
            </a:r>
            <a:r>
              <a:rPr lang="el-GR" sz="1200" dirty="0"/>
              <a:t>στο </a:t>
            </a:r>
            <a:r>
              <a:rPr lang="en-US" sz="1200" dirty="0"/>
              <a:t>menu </a:t>
            </a:r>
            <a:r>
              <a:rPr lang="el-GR" sz="1200" dirty="0"/>
              <a:t>περισσότερο θα βοηθηθεί από το να βλέπει τις γενικές κατηγορίες </a:t>
            </a:r>
          </a:p>
        </p:txBody>
      </p:sp>
    </p:spTree>
    <p:extLst>
      <p:ext uri="{BB962C8B-B14F-4D97-AF65-F5344CB8AC3E}">
        <p14:creationId xmlns:p14="http://schemas.microsoft.com/office/powerpoint/2010/main" val="1065998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5117D-7470-E383-3D2C-7E33B9FE5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CA01B2-1968-8CD2-918E-3AAE128065BA}"/>
              </a:ext>
            </a:extLst>
          </p:cNvPr>
          <p:cNvSpPr txBox="1"/>
          <p:nvPr/>
        </p:nvSpPr>
        <p:spPr>
          <a:xfrm>
            <a:off x="-9331" y="-22324"/>
            <a:ext cx="1670180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highlight>
                  <a:srgbClr val="800080"/>
                </a:highlight>
              </a:rPr>
              <a:t>CATEGORY PAGE</a:t>
            </a:r>
            <a:endParaRPr lang="el-GR" sz="1400" dirty="0">
              <a:solidFill>
                <a:schemeClr val="bg1"/>
              </a:solidFill>
              <a:highlight>
                <a:srgbClr val="800080"/>
              </a:highlight>
            </a:endParaRPr>
          </a:p>
        </p:txBody>
      </p:sp>
      <p:sp>
        <p:nvSpPr>
          <p:cNvPr id="2" name="Ορθογώνιο 1">
            <a:extLst>
              <a:ext uri="{FF2B5EF4-FFF2-40B4-BE49-F238E27FC236}">
                <a16:creationId xmlns:a16="http://schemas.microsoft.com/office/drawing/2014/main" id="{C2C7AE74-4B9F-73C3-933E-9C2F06408123}"/>
              </a:ext>
            </a:extLst>
          </p:cNvPr>
          <p:cNvSpPr/>
          <p:nvPr/>
        </p:nvSpPr>
        <p:spPr>
          <a:xfrm>
            <a:off x="2359092" y="2030028"/>
            <a:ext cx="1293843" cy="16274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" name="Ορθογώνιο 2">
            <a:extLst>
              <a:ext uri="{FF2B5EF4-FFF2-40B4-BE49-F238E27FC236}">
                <a16:creationId xmlns:a16="http://schemas.microsoft.com/office/drawing/2014/main" id="{285A9928-8907-1A98-B69E-0F942C977EDF}"/>
              </a:ext>
            </a:extLst>
          </p:cNvPr>
          <p:cNvSpPr/>
          <p:nvPr/>
        </p:nvSpPr>
        <p:spPr>
          <a:xfrm>
            <a:off x="4408713" y="2030030"/>
            <a:ext cx="1293843" cy="16274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b="1" dirty="0"/>
          </a:p>
        </p:txBody>
      </p:sp>
      <p:sp>
        <p:nvSpPr>
          <p:cNvPr id="5" name="Ορθογώνιο 4">
            <a:extLst>
              <a:ext uri="{FF2B5EF4-FFF2-40B4-BE49-F238E27FC236}">
                <a16:creationId xmlns:a16="http://schemas.microsoft.com/office/drawing/2014/main" id="{E5303A78-2A6E-5242-6E05-AD4B5C095835}"/>
              </a:ext>
            </a:extLst>
          </p:cNvPr>
          <p:cNvSpPr/>
          <p:nvPr/>
        </p:nvSpPr>
        <p:spPr>
          <a:xfrm>
            <a:off x="2359092" y="4170592"/>
            <a:ext cx="1293843" cy="16274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B7A87E8C-888E-E7A0-0981-C59E758CF0F3}"/>
              </a:ext>
            </a:extLst>
          </p:cNvPr>
          <p:cNvSpPr/>
          <p:nvPr/>
        </p:nvSpPr>
        <p:spPr>
          <a:xfrm>
            <a:off x="4408712" y="4161357"/>
            <a:ext cx="1293843" cy="16274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BBAD3C-26B4-3CBB-F7FF-BC2FF99E57EC}"/>
              </a:ext>
            </a:extLst>
          </p:cNvPr>
          <p:cNvSpPr txBox="1"/>
          <p:nvPr/>
        </p:nvSpPr>
        <p:spPr>
          <a:xfrm>
            <a:off x="2396413" y="2697885"/>
            <a:ext cx="1293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ΚΑΔΟΣ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8FB54C-5BAC-1079-C726-9CD6572DB486}"/>
              </a:ext>
            </a:extLst>
          </p:cNvPr>
          <p:cNvSpPr txBox="1"/>
          <p:nvPr/>
        </p:nvSpPr>
        <p:spPr>
          <a:xfrm>
            <a:off x="214604" y="2007287"/>
            <a:ext cx="1446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b="1" dirty="0"/>
              <a:t>Φίλτρα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437D1B-8326-FABA-16A4-ACC3FDD69161}"/>
              </a:ext>
            </a:extLst>
          </p:cNvPr>
          <p:cNvSpPr txBox="1"/>
          <p:nvPr/>
        </p:nvSpPr>
        <p:spPr>
          <a:xfrm>
            <a:off x="4446034" y="2697885"/>
            <a:ext cx="1293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ΚΑΔΟΣ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FA2138-6B76-625C-446F-535486072445}"/>
              </a:ext>
            </a:extLst>
          </p:cNvPr>
          <p:cNvSpPr txBox="1"/>
          <p:nvPr/>
        </p:nvSpPr>
        <p:spPr>
          <a:xfrm>
            <a:off x="4408711" y="4830412"/>
            <a:ext cx="1293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ΚΑΔΟΣ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E017BE-79A7-BCF7-EE52-EDD9767F9940}"/>
              </a:ext>
            </a:extLst>
          </p:cNvPr>
          <p:cNvSpPr txBox="1"/>
          <p:nvPr/>
        </p:nvSpPr>
        <p:spPr>
          <a:xfrm>
            <a:off x="2359091" y="4830412"/>
            <a:ext cx="1293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ΚΑΔΟΣ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7D5EDB-CB58-7C99-E196-5358ED28ADC8}"/>
              </a:ext>
            </a:extLst>
          </p:cNvPr>
          <p:cNvSpPr txBox="1"/>
          <p:nvPr/>
        </p:nvSpPr>
        <p:spPr>
          <a:xfrm>
            <a:off x="214604" y="2428203"/>
            <a:ext cx="14462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b="1" dirty="0"/>
              <a:t>Μέγεθος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l-GR" sz="1200" dirty="0"/>
              <a:t>5 λίτρα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l-GR" sz="1200" dirty="0"/>
              <a:t>10 λίτρα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l-GR" sz="1200" dirty="0"/>
              <a:t>15 λίτρα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438C7A-D981-7E09-8302-746D6871A3DC}"/>
              </a:ext>
            </a:extLst>
          </p:cNvPr>
          <p:cNvSpPr txBox="1"/>
          <p:nvPr/>
        </p:nvSpPr>
        <p:spPr>
          <a:xfrm>
            <a:off x="214604" y="3541655"/>
            <a:ext cx="1446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b="1" dirty="0"/>
              <a:t>Χρώμα</a:t>
            </a:r>
          </a:p>
        </p:txBody>
      </p:sp>
      <p:sp>
        <p:nvSpPr>
          <p:cNvPr id="16" name="Ορθογώνιο 15">
            <a:extLst>
              <a:ext uri="{FF2B5EF4-FFF2-40B4-BE49-F238E27FC236}">
                <a16:creationId xmlns:a16="http://schemas.microsoft.com/office/drawing/2014/main" id="{70734D63-7F79-7FB2-3A23-AE997803D79E}"/>
              </a:ext>
            </a:extLst>
          </p:cNvPr>
          <p:cNvSpPr/>
          <p:nvPr/>
        </p:nvSpPr>
        <p:spPr>
          <a:xfrm>
            <a:off x="300144" y="4033271"/>
            <a:ext cx="307134" cy="3305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7" name="Ορθογώνιο 16">
            <a:extLst>
              <a:ext uri="{FF2B5EF4-FFF2-40B4-BE49-F238E27FC236}">
                <a16:creationId xmlns:a16="http://schemas.microsoft.com/office/drawing/2014/main" id="{5A4F1096-3541-E1A3-2239-DBB8A9E273A2}"/>
              </a:ext>
            </a:extLst>
          </p:cNvPr>
          <p:cNvSpPr/>
          <p:nvPr/>
        </p:nvSpPr>
        <p:spPr>
          <a:xfrm>
            <a:off x="722351" y="4033270"/>
            <a:ext cx="307134" cy="33051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8" name="Ορθογώνιο 17">
            <a:extLst>
              <a:ext uri="{FF2B5EF4-FFF2-40B4-BE49-F238E27FC236}">
                <a16:creationId xmlns:a16="http://schemas.microsoft.com/office/drawing/2014/main" id="{E1AC495A-00A4-BC1A-CFDB-616F9612C469}"/>
              </a:ext>
            </a:extLst>
          </p:cNvPr>
          <p:cNvSpPr/>
          <p:nvPr/>
        </p:nvSpPr>
        <p:spPr>
          <a:xfrm>
            <a:off x="300144" y="4578407"/>
            <a:ext cx="307134" cy="330519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9" name="Ορθογώνιο 18">
            <a:extLst>
              <a:ext uri="{FF2B5EF4-FFF2-40B4-BE49-F238E27FC236}">
                <a16:creationId xmlns:a16="http://schemas.microsoft.com/office/drawing/2014/main" id="{272649D9-596C-B361-EBBB-DE09BAEEDC2B}"/>
              </a:ext>
            </a:extLst>
          </p:cNvPr>
          <p:cNvSpPr/>
          <p:nvPr/>
        </p:nvSpPr>
        <p:spPr>
          <a:xfrm>
            <a:off x="722351" y="4578407"/>
            <a:ext cx="307134" cy="330519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0" name="Ορθογώνιο 19">
            <a:extLst>
              <a:ext uri="{FF2B5EF4-FFF2-40B4-BE49-F238E27FC236}">
                <a16:creationId xmlns:a16="http://schemas.microsoft.com/office/drawing/2014/main" id="{E1ECC415-C713-3776-F232-2780E8901B62}"/>
              </a:ext>
            </a:extLst>
          </p:cNvPr>
          <p:cNvSpPr/>
          <p:nvPr/>
        </p:nvSpPr>
        <p:spPr>
          <a:xfrm>
            <a:off x="1177999" y="4033270"/>
            <a:ext cx="307134" cy="330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904A64-9D33-4517-6077-0371A7231913}"/>
              </a:ext>
            </a:extLst>
          </p:cNvPr>
          <p:cNvSpPr txBox="1"/>
          <p:nvPr/>
        </p:nvSpPr>
        <p:spPr>
          <a:xfrm>
            <a:off x="237172" y="5258489"/>
            <a:ext cx="1446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b="1" dirty="0"/>
              <a:t>Σχήμα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l-GR" sz="1200" dirty="0"/>
              <a:t>Στρογγυλό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l-GR" sz="1200" dirty="0"/>
              <a:t>Τετράγωνο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E35580-31B5-FE09-EFF6-039E0DDD697D}"/>
              </a:ext>
            </a:extLst>
          </p:cNvPr>
          <p:cNvSpPr txBox="1"/>
          <p:nvPr/>
        </p:nvSpPr>
        <p:spPr>
          <a:xfrm>
            <a:off x="300144" y="6233403"/>
            <a:ext cx="1696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b="1" dirty="0"/>
              <a:t>Χώρος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l-GR" sz="1200" dirty="0"/>
              <a:t>Εσωτερικού χώρου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l-GR" sz="1200" dirty="0"/>
              <a:t>Εξωτερικού χώρου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E636A1-0548-6C60-B04D-6B5BF551EED2}"/>
              </a:ext>
            </a:extLst>
          </p:cNvPr>
          <p:cNvSpPr txBox="1"/>
          <p:nvPr/>
        </p:nvSpPr>
        <p:spPr>
          <a:xfrm>
            <a:off x="2125826" y="1053787"/>
            <a:ext cx="4030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dirty="0"/>
              <a:t>Εισαγωγική περιγραφή. Να εξηγεί τι περιλαμβάνει. Να βοηθά τον χρήστη να καταλάβει αν βρίσκεται στο σωστό σημείο.</a:t>
            </a:r>
          </a:p>
        </p:txBody>
      </p:sp>
    </p:spTree>
    <p:extLst>
      <p:ext uri="{BB962C8B-B14F-4D97-AF65-F5344CB8AC3E}">
        <p14:creationId xmlns:p14="http://schemas.microsoft.com/office/powerpoint/2010/main" val="3262517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0EF92-5B6B-B9B2-FBE8-4A83CC510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1D2455-39F9-AEA4-71A7-3593CA46D382}"/>
              </a:ext>
            </a:extLst>
          </p:cNvPr>
          <p:cNvSpPr txBox="1"/>
          <p:nvPr/>
        </p:nvSpPr>
        <p:spPr>
          <a:xfrm>
            <a:off x="-9331" y="-22324"/>
            <a:ext cx="2920482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highlight>
                  <a:srgbClr val="800080"/>
                </a:highlight>
              </a:rPr>
              <a:t>PRODUCT PAGE</a:t>
            </a:r>
            <a:endParaRPr lang="el-GR" sz="1400" dirty="0">
              <a:solidFill>
                <a:schemeClr val="bg1"/>
              </a:solidFill>
              <a:highlight>
                <a:srgbClr val="800080"/>
              </a:highlight>
            </a:endParaRPr>
          </a:p>
        </p:txBody>
      </p:sp>
      <p:sp>
        <p:nvSpPr>
          <p:cNvPr id="3" name="Ορθογώνιο 2">
            <a:extLst>
              <a:ext uri="{FF2B5EF4-FFF2-40B4-BE49-F238E27FC236}">
                <a16:creationId xmlns:a16="http://schemas.microsoft.com/office/drawing/2014/main" id="{0CDAB794-1E9F-9796-6647-4EFDB821CF51}"/>
              </a:ext>
            </a:extLst>
          </p:cNvPr>
          <p:cNvSpPr/>
          <p:nvPr/>
        </p:nvSpPr>
        <p:spPr>
          <a:xfrm>
            <a:off x="727787" y="1380931"/>
            <a:ext cx="2808514" cy="25565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8" name="Ορθογώνιο 7">
            <a:extLst>
              <a:ext uri="{FF2B5EF4-FFF2-40B4-BE49-F238E27FC236}">
                <a16:creationId xmlns:a16="http://schemas.microsoft.com/office/drawing/2014/main" id="{F35D8177-C9BC-EC35-1BAD-6D31A8BBC35E}"/>
              </a:ext>
            </a:extLst>
          </p:cNvPr>
          <p:cNvSpPr/>
          <p:nvPr/>
        </p:nvSpPr>
        <p:spPr>
          <a:xfrm>
            <a:off x="727787" y="4167674"/>
            <a:ext cx="681135" cy="6655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8D195C7E-460F-699D-EC3D-71466AE5A195}"/>
              </a:ext>
            </a:extLst>
          </p:cNvPr>
          <p:cNvSpPr/>
          <p:nvPr/>
        </p:nvSpPr>
        <p:spPr>
          <a:xfrm>
            <a:off x="1680286" y="4167674"/>
            <a:ext cx="681135" cy="6655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0" name="Ορθογώνιο 9">
            <a:extLst>
              <a:ext uri="{FF2B5EF4-FFF2-40B4-BE49-F238E27FC236}">
                <a16:creationId xmlns:a16="http://schemas.microsoft.com/office/drawing/2014/main" id="{850CB777-8EA8-5599-355F-4807CD7546B3}"/>
              </a:ext>
            </a:extLst>
          </p:cNvPr>
          <p:cNvSpPr/>
          <p:nvPr/>
        </p:nvSpPr>
        <p:spPr>
          <a:xfrm>
            <a:off x="2632785" y="4167673"/>
            <a:ext cx="681135" cy="6655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B44F13-5F3A-2530-BCC0-FD93772AD44A}"/>
              </a:ext>
            </a:extLst>
          </p:cNvPr>
          <p:cNvSpPr txBox="1"/>
          <p:nvPr/>
        </p:nvSpPr>
        <p:spPr>
          <a:xfrm>
            <a:off x="1068354" y="2371923"/>
            <a:ext cx="2160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MAIN PRODUCT IMAGE</a:t>
            </a:r>
            <a:endParaRPr lang="el-G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682AFC-F1A1-239B-8D0C-26C048C726FD}"/>
              </a:ext>
            </a:extLst>
          </p:cNvPr>
          <p:cNvSpPr txBox="1"/>
          <p:nvPr/>
        </p:nvSpPr>
        <p:spPr>
          <a:xfrm>
            <a:off x="581996" y="4285020"/>
            <a:ext cx="9727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PRODUCT</a:t>
            </a:r>
          </a:p>
          <a:p>
            <a:pPr algn="ctr"/>
            <a:r>
              <a:rPr lang="en-US" sz="1100" dirty="0"/>
              <a:t>IMAGE</a:t>
            </a:r>
            <a:endParaRPr lang="el-GR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7D8006-E99B-2BAE-C3F8-81538E99DD1D}"/>
              </a:ext>
            </a:extLst>
          </p:cNvPr>
          <p:cNvSpPr txBox="1"/>
          <p:nvPr/>
        </p:nvSpPr>
        <p:spPr>
          <a:xfrm>
            <a:off x="1549658" y="4285020"/>
            <a:ext cx="9727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PRODUCT</a:t>
            </a:r>
          </a:p>
          <a:p>
            <a:pPr algn="ctr"/>
            <a:r>
              <a:rPr lang="en-US" sz="1100" dirty="0"/>
              <a:t>IMAGE</a:t>
            </a:r>
            <a:endParaRPr lang="el-GR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0F419A-BB54-79A0-CA45-25BC9AEA18AD}"/>
              </a:ext>
            </a:extLst>
          </p:cNvPr>
          <p:cNvSpPr txBox="1"/>
          <p:nvPr/>
        </p:nvSpPr>
        <p:spPr>
          <a:xfrm>
            <a:off x="2504491" y="4285020"/>
            <a:ext cx="9727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PRODUCT</a:t>
            </a:r>
          </a:p>
          <a:p>
            <a:pPr algn="ctr"/>
            <a:r>
              <a:rPr lang="en-US" sz="1100" dirty="0"/>
              <a:t>IMAGE</a:t>
            </a:r>
            <a:endParaRPr lang="el-GR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B97EAE-1457-A759-2D68-761471CDD260}"/>
              </a:ext>
            </a:extLst>
          </p:cNvPr>
          <p:cNvSpPr txBox="1"/>
          <p:nvPr/>
        </p:nvSpPr>
        <p:spPr>
          <a:xfrm>
            <a:off x="3928188" y="1380931"/>
            <a:ext cx="25472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/>
              <a:t>Γλάστρα </a:t>
            </a:r>
            <a:r>
              <a:rPr lang="en-US" b="1" dirty="0"/>
              <a:t>GEA </a:t>
            </a:r>
          </a:p>
          <a:p>
            <a:r>
              <a:rPr lang="el-GR" sz="1200" dirty="0" err="1"/>
              <a:t>Κωδ</a:t>
            </a:r>
            <a:r>
              <a:rPr lang="el-GR" sz="1200" dirty="0"/>
              <a:t>: 150-02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901610-EF41-1E26-7AB7-7D2C605543F4}"/>
              </a:ext>
            </a:extLst>
          </p:cNvPr>
          <p:cNvSpPr txBox="1"/>
          <p:nvPr/>
        </p:nvSpPr>
        <p:spPr>
          <a:xfrm>
            <a:off x="3945295" y="1976696"/>
            <a:ext cx="22300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/>
              <a:t>Περιγραφή</a:t>
            </a:r>
            <a:r>
              <a:rPr lang="el-GR" dirty="0"/>
              <a:t> </a:t>
            </a:r>
          </a:p>
          <a:p>
            <a:r>
              <a:rPr lang="en-US" sz="1200" dirty="0"/>
              <a:t>Lorem ipsum lorem ipsum lorem ipsum lorem ipsum lorem ipsum lorem ipsum lorem ipsum lorem ipsum lorem ipsum </a:t>
            </a:r>
            <a:endParaRPr lang="el-GR" sz="1200" dirty="0"/>
          </a:p>
          <a:p>
            <a:r>
              <a:rPr lang="en-US" dirty="0"/>
              <a:t> </a:t>
            </a:r>
            <a:endParaRPr lang="el-G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1AE165-7D7E-C9B6-9946-9A936563A019}"/>
              </a:ext>
            </a:extLst>
          </p:cNvPr>
          <p:cNvSpPr txBox="1"/>
          <p:nvPr/>
        </p:nvSpPr>
        <p:spPr>
          <a:xfrm>
            <a:off x="3945295" y="3418846"/>
            <a:ext cx="15862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400" dirty="0"/>
              <a:t>Χρώματα</a:t>
            </a:r>
          </a:p>
        </p:txBody>
      </p:sp>
      <p:sp>
        <p:nvSpPr>
          <p:cNvPr id="18" name="Ορθογώνιο 17">
            <a:extLst>
              <a:ext uri="{FF2B5EF4-FFF2-40B4-BE49-F238E27FC236}">
                <a16:creationId xmlns:a16="http://schemas.microsoft.com/office/drawing/2014/main" id="{511795BA-E3BD-1C70-264B-9DF556C1706F}"/>
              </a:ext>
            </a:extLst>
          </p:cNvPr>
          <p:cNvSpPr/>
          <p:nvPr/>
        </p:nvSpPr>
        <p:spPr>
          <a:xfrm>
            <a:off x="4058817" y="3837154"/>
            <a:ext cx="307134" cy="3305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9" name="Ορθογώνιο 18">
            <a:extLst>
              <a:ext uri="{FF2B5EF4-FFF2-40B4-BE49-F238E27FC236}">
                <a16:creationId xmlns:a16="http://schemas.microsoft.com/office/drawing/2014/main" id="{4C2FF75F-55CF-4CF0-B875-FEC8996100D1}"/>
              </a:ext>
            </a:extLst>
          </p:cNvPr>
          <p:cNvSpPr/>
          <p:nvPr/>
        </p:nvSpPr>
        <p:spPr>
          <a:xfrm>
            <a:off x="4481024" y="3837153"/>
            <a:ext cx="307134" cy="33051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0" name="Ορθογώνιο 19">
            <a:extLst>
              <a:ext uri="{FF2B5EF4-FFF2-40B4-BE49-F238E27FC236}">
                <a16:creationId xmlns:a16="http://schemas.microsoft.com/office/drawing/2014/main" id="{266E86EE-211E-BD94-7C24-9B078BBF8A12}"/>
              </a:ext>
            </a:extLst>
          </p:cNvPr>
          <p:cNvSpPr/>
          <p:nvPr/>
        </p:nvSpPr>
        <p:spPr>
          <a:xfrm>
            <a:off x="4903231" y="3837153"/>
            <a:ext cx="307134" cy="330519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1" name="Ορθογώνιο 20">
            <a:extLst>
              <a:ext uri="{FF2B5EF4-FFF2-40B4-BE49-F238E27FC236}">
                <a16:creationId xmlns:a16="http://schemas.microsoft.com/office/drawing/2014/main" id="{C46152C6-0D46-09D6-5469-52F96C8527CD}"/>
              </a:ext>
            </a:extLst>
          </p:cNvPr>
          <p:cNvSpPr/>
          <p:nvPr/>
        </p:nvSpPr>
        <p:spPr>
          <a:xfrm>
            <a:off x="5330103" y="3837153"/>
            <a:ext cx="307134" cy="330519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2" name="Ορθογώνιο 21">
            <a:extLst>
              <a:ext uri="{FF2B5EF4-FFF2-40B4-BE49-F238E27FC236}">
                <a16:creationId xmlns:a16="http://schemas.microsoft.com/office/drawing/2014/main" id="{FEE9321E-6AE1-8583-6C61-E6D94C470C00}"/>
              </a:ext>
            </a:extLst>
          </p:cNvPr>
          <p:cNvSpPr/>
          <p:nvPr/>
        </p:nvSpPr>
        <p:spPr>
          <a:xfrm>
            <a:off x="5732881" y="3834041"/>
            <a:ext cx="307134" cy="330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838590-35AE-DF38-7ACF-B310CEDBE830}"/>
              </a:ext>
            </a:extLst>
          </p:cNvPr>
          <p:cNvSpPr txBox="1"/>
          <p:nvPr/>
        </p:nvSpPr>
        <p:spPr>
          <a:xfrm>
            <a:off x="3968235" y="4454592"/>
            <a:ext cx="15862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400" dirty="0"/>
              <a:t>Διάλεξε μέγεθος</a:t>
            </a:r>
          </a:p>
        </p:txBody>
      </p:sp>
      <p:sp>
        <p:nvSpPr>
          <p:cNvPr id="24" name="Ορθογώνιο 23">
            <a:extLst>
              <a:ext uri="{FF2B5EF4-FFF2-40B4-BE49-F238E27FC236}">
                <a16:creationId xmlns:a16="http://schemas.microsoft.com/office/drawing/2014/main" id="{0E73D301-2D47-1126-841C-7CA552D795C1}"/>
              </a:ext>
            </a:extLst>
          </p:cNvPr>
          <p:cNvSpPr/>
          <p:nvPr/>
        </p:nvSpPr>
        <p:spPr>
          <a:xfrm>
            <a:off x="4058817" y="4773740"/>
            <a:ext cx="1471128" cy="3305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3D0CF6-7725-2512-6889-C063DD3F66FE}"/>
              </a:ext>
            </a:extLst>
          </p:cNvPr>
          <p:cNvSpPr txBox="1"/>
          <p:nvPr/>
        </p:nvSpPr>
        <p:spPr>
          <a:xfrm flipH="1">
            <a:off x="4091316" y="4796482"/>
            <a:ext cx="1438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15</a:t>
            </a:r>
            <a:r>
              <a:rPr lang="en-US" sz="1400" dirty="0"/>
              <a:t>x</a:t>
            </a:r>
            <a:r>
              <a:rPr lang="el-GR" sz="1400" dirty="0"/>
              <a:t>Υ</a:t>
            </a:r>
            <a:r>
              <a:rPr lang="en-US" sz="1400" dirty="0"/>
              <a:t>17cm</a:t>
            </a:r>
            <a:endParaRPr lang="el-GR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22D2CF-1BC0-9ABC-1584-334883291F49}"/>
              </a:ext>
            </a:extLst>
          </p:cNvPr>
          <p:cNvSpPr txBox="1"/>
          <p:nvPr/>
        </p:nvSpPr>
        <p:spPr>
          <a:xfrm>
            <a:off x="3928188" y="6199824"/>
            <a:ext cx="2019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400" dirty="0"/>
              <a:t>Τεχνικά χαρακτηριστικά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E31B10-02A8-19D2-A694-03B5A8AC4D39}"/>
              </a:ext>
            </a:extLst>
          </p:cNvPr>
          <p:cNvSpPr txBox="1"/>
          <p:nvPr/>
        </p:nvSpPr>
        <p:spPr>
          <a:xfrm>
            <a:off x="670634" y="6025564"/>
            <a:ext cx="2019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400" dirty="0"/>
              <a:t>Συνδύασε το με</a:t>
            </a:r>
          </a:p>
        </p:txBody>
      </p:sp>
      <p:sp>
        <p:nvSpPr>
          <p:cNvPr id="32" name="Ορθογώνιο 31">
            <a:extLst>
              <a:ext uri="{FF2B5EF4-FFF2-40B4-BE49-F238E27FC236}">
                <a16:creationId xmlns:a16="http://schemas.microsoft.com/office/drawing/2014/main" id="{5CA386DE-F6A7-D33A-821D-BEDA7F2275EA}"/>
              </a:ext>
            </a:extLst>
          </p:cNvPr>
          <p:cNvSpPr/>
          <p:nvPr/>
        </p:nvSpPr>
        <p:spPr>
          <a:xfrm>
            <a:off x="768996" y="6543870"/>
            <a:ext cx="1237086" cy="12565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3" name="Ορθογώνιο 32">
            <a:extLst>
              <a:ext uri="{FF2B5EF4-FFF2-40B4-BE49-F238E27FC236}">
                <a16:creationId xmlns:a16="http://schemas.microsoft.com/office/drawing/2014/main" id="{A173C930-6638-8460-D98D-ED3D76919C52}"/>
              </a:ext>
            </a:extLst>
          </p:cNvPr>
          <p:cNvSpPr/>
          <p:nvPr/>
        </p:nvSpPr>
        <p:spPr>
          <a:xfrm>
            <a:off x="2240123" y="6543870"/>
            <a:ext cx="1237086" cy="12565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36ACEE-967A-312F-FFF0-E84E36EBE2B0}"/>
              </a:ext>
            </a:extLst>
          </p:cNvPr>
          <p:cNvSpPr txBox="1"/>
          <p:nvPr/>
        </p:nvSpPr>
        <p:spPr>
          <a:xfrm>
            <a:off x="633314" y="6848965"/>
            <a:ext cx="1551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PRODUCT IMAGE</a:t>
            </a:r>
            <a:endParaRPr lang="el-GR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67A4E3-A43E-FCFF-3EFD-EC9398EA6047}"/>
              </a:ext>
            </a:extLst>
          </p:cNvPr>
          <p:cNvSpPr txBox="1"/>
          <p:nvPr/>
        </p:nvSpPr>
        <p:spPr>
          <a:xfrm>
            <a:off x="2132044" y="6848965"/>
            <a:ext cx="1551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PRODUCT IMAGE</a:t>
            </a:r>
            <a:endParaRPr lang="el-GR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C86CA20-EC58-5A63-A2A4-1D94AECCB573}"/>
              </a:ext>
            </a:extLst>
          </p:cNvPr>
          <p:cNvSpPr txBox="1"/>
          <p:nvPr/>
        </p:nvSpPr>
        <p:spPr>
          <a:xfrm>
            <a:off x="752277" y="7857031"/>
            <a:ext cx="1237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b="1" dirty="0"/>
              <a:t>Πιάτο </a:t>
            </a:r>
            <a:r>
              <a:rPr lang="en-US" sz="1400" b="1" dirty="0"/>
              <a:t>Rondo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4DDCB6-C99D-49AE-F87B-C2F0504D8B36}"/>
              </a:ext>
            </a:extLst>
          </p:cNvPr>
          <p:cNvSpPr txBox="1"/>
          <p:nvPr/>
        </p:nvSpPr>
        <p:spPr>
          <a:xfrm>
            <a:off x="2184529" y="7898495"/>
            <a:ext cx="1805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b="1" dirty="0"/>
              <a:t>Μπίλιες </a:t>
            </a:r>
            <a:r>
              <a:rPr lang="en-US" sz="1400" b="1" dirty="0" err="1"/>
              <a:t>Omniroll</a:t>
            </a:r>
            <a:endParaRPr lang="en-US" sz="1400" b="1" dirty="0"/>
          </a:p>
        </p:txBody>
      </p:sp>
      <p:sp>
        <p:nvSpPr>
          <p:cNvPr id="41" name="Ορθογώνιο 40">
            <a:extLst>
              <a:ext uri="{FF2B5EF4-FFF2-40B4-BE49-F238E27FC236}">
                <a16:creationId xmlns:a16="http://schemas.microsoft.com/office/drawing/2014/main" id="{081B0F9E-D904-0579-3453-58A98A939182}"/>
              </a:ext>
            </a:extLst>
          </p:cNvPr>
          <p:cNvSpPr/>
          <p:nvPr/>
        </p:nvSpPr>
        <p:spPr>
          <a:xfrm>
            <a:off x="4058817" y="5220617"/>
            <a:ext cx="1471128" cy="3305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F5F466-4E5B-8E4D-2153-5C86446601BD}"/>
              </a:ext>
            </a:extLst>
          </p:cNvPr>
          <p:cNvSpPr txBox="1"/>
          <p:nvPr/>
        </p:nvSpPr>
        <p:spPr>
          <a:xfrm flipH="1">
            <a:off x="4091316" y="5243359"/>
            <a:ext cx="1438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18</a:t>
            </a:r>
            <a:r>
              <a:rPr lang="en-US" sz="1400" dirty="0"/>
              <a:t>x</a:t>
            </a:r>
            <a:r>
              <a:rPr lang="el-GR" sz="1400" dirty="0"/>
              <a:t>Υ20</a:t>
            </a:r>
            <a:r>
              <a:rPr lang="en-US" sz="1400" dirty="0"/>
              <a:t>cm</a:t>
            </a:r>
            <a:endParaRPr lang="el-GR" sz="1400" dirty="0"/>
          </a:p>
        </p:txBody>
      </p:sp>
      <p:sp>
        <p:nvSpPr>
          <p:cNvPr id="43" name="Ορθογώνιο 42">
            <a:extLst>
              <a:ext uri="{FF2B5EF4-FFF2-40B4-BE49-F238E27FC236}">
                <a16:creationId xmlns:a16="http://schemas.microsoft.com/office/drawing/2014/main" id="{8CD34E26-E70B-9D7C-DC15-98E47407741E}"/>
              </a:ext>
            </a:extLst>
          </p:cNvPr>
          <p:cNvSpPr/>
          <p:nvPr/>
        </p:nvSpPr>
        <p:spPr>
          <a:xfrm>
            <a:off x="4058817" y="5667494"/>
            <a:ext cx="1471128" cy="3305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1588D8-2C91-A3A6-1BA7-3F9A83C85C21}"/>
              </a:ext>
            </a:extLst>
          </p:cNvPr>
          <p:cNvSpPr txBox="1"/>
          <p:nvPr/>
        </p:nvSpPr>
        <p:spPr>
          <a:xfrm flipH="1">
            <a:off x="4091316" y="5690236"/>
            <a:ext cx="1438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21</a:t>
            </a:r>
            <a:r>
              <a:rPr lang="en-US" sz="1400" dirty="0"/>
              <a:t>x</a:t>
            </a:r>
            <a:r>
              <a:rPr lang="el-GR" sz="1400" dirty="0"/>
              <a:t>Υ23</a:t>
            </a:r>
            <a:r>
              <a:rPr lang="en-US" sz="1400" dirty="0"/>
              <a:t>cm</a:t>
            </a:r>
            <a:endParaRPr lang="el-GR" sz="1400" dirty="0"/>
          </a:p>
        </p:txBody>
      </p:sp>
      <p:sp>
        <p:nvSpPr>
          <p:cNvPr id="45" name="Ορθογώνιο 44">
            <a:extLst>
              <a:ext uri="{FF2B5EF4-FFF2-40B4-BE49-F238E27FC236}">
                <a16:creationId xmlns:a16="http://schemas.microsoft.com/office/drawing/2014/main" id="{3EF25028-C765-94DA-1B4E-F37295438437}"/>
              </a:ext>
            </a:extLst>
          </p:cNvPr>
          <p:cNvSpPr/>
          <p:nvPr/>
        </p:nvSpPr>
        <p:spPr>
          <a:xfrm>
            <a:off x="737499" y="865290"/>
            <a:ext cx="797273" cy="3305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BA74AD-E441-B9AD-8A2F-89DCEA85A435}"/>
              </a:ext>
            </a:extLst>
          </p:cNvPr>
          <p:cNvSpPr txBox="1"/>
          <p:nvPr/>
        </p:nvSpPr>
        <p:spPr>
          <a:xfrm flipH="1">
            <a:off x="816673" y="886692"/>
            <a:ext cx="638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400" dirty="0"/>
              <a:t>ΝΕΟ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B232C-7B74-B385-F235-FACCCA260FC4}"/>
              </a:ext>
            </a:extLst>
          </p:cNvPr>
          <p:cNvSpPr txBox="1"/>
          <p:nvPr/>
        </p:nvSpPr>
        <p:spPr>
          <a:xfrm>
            <a:off x="3991448" y="895241"/>
            <a:ext cx="17075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Brand logo</a:t>
            </a:r>
            <a:endParaRPr lang="el-G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8A5CFB-C303-D71B-5017-88CB5B4C9C90}"/>
              </a:ext>
            </a:extLst>
          </p:cNvPr>
          <p:cNvSpPr txBox="1"/>
          <p:nvPr/>
        </p:nvSpPr>
        <p:spPr>
          <a:xfrm>
            <a:off x="670633" y="438539"/>
            <a:ext cx="5028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Home Page &gt; </a:t>
            </a:r>
            <a:r>
              <a:rPr lang="el-GR" sz="1400" dirty="0"/>
              <a:t>Προϊόντα &gt; </a:t>
            </a:r>
            <a:r>
              <a:rPr lang="en-US" sz="1400" dirty="0"/>
              <a:t>Category &gt; Sub-category &gt; Product </a:t>
            </a:r>
            <a:endParaRPr lang="el-GR" sz="1400" dirty="0"/>
          </a:p>
        </p:txBody>
      </p:sp>
    </p:spTree>
    <p:extLst>
      <p:ext uri="{BB962C8B-B14F-4D97-AF65-F5344CB8AC3E}">
        <p14:creationId xmlns:p14="http://schemas.microsoft.com/office/powerpoint/2010/main" val="2401130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4928A-B289-2695-77C2-C828D17F4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53A012-7300-94D8-CA05-36D07D4090CB}"/>
              </a:ext>
            </a:extLst>
          </p:cNvPr>
          <p:cNvSpPr txBox="1"/>
          <p:nvPr/>
        </p:nvSpPr>
        <p:spPr>
          <a:xfrm>
            <a:off x="-9331" y="-22324"/>
            <a:ext cx="2920482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highlight>
                  <a:srgbClr val="800080"/>
                </a:highlight>
              </a:rPr>
              <a:t>LANDING PAGE </a:t>
            </a:r>
            <a:r>
              <a:rPr lang="el-GR" sz="1400" dirty="0">
                <a:solidFill>
                  <a:schemeClr val="bg1"/>
                </a:solidFill>
                <a:highlight>
                  <a:srgbClr val="800080"/>
                </a:highlight>
              </a:rPr>
              <a:t>ΣΧΕΤΙΚΑ ΜΕ ΕΜΑΣ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5F37FC-0AA8-382C-5F2D-1811380B159A}"/>
              </a:ext>
            </a:extLst>
          </p:cNvPr>
          <p:cNvSpPr txBox="1"/>
          <p:nvPr/>
        </p:nvSpPr>
        <p:spPr>
          <a:xfrm>
            <a:off x="531845" y="979714"/>
            <a:ext cx="5514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/>
              <a:t>Το παντοτινό μας όραμα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AC9CB8-F634-363C-C8B4-DB8414D3014B}"/>
              </a:ext>
            </a:extLst>
          </p:cNvPr>
          <p:cNvSpPr txBox="1"/>
          <p:nvPr/>
        </p:nvSpPr>
        <p:spPr>
          <a:xfrm>
            <a:off x="545841" y="3243744"/>
            <a:ext cx="5514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/>
              <a:t>Μελέτη και κατασκευή μητρών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5A687-55E0-3F03-83D2-FB5E97384857}"/>
              </a:ext>
            </a:extLst>
          </p:cNvPr>
          <p:cNvSpPr txBox="1"/>
          <p:nvPr/>
        </p:nvSpPr>
        <p:spPr>
          <a:xfrm>
            <a:off x="522514" y="4352835"/>
            <a:ext cx="5514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/>
              <a:t>Παραγωγή πλαστικών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139A5C-DBA8-413D-76C5-E89BB5E6445D}"/>
              </a:ext>
            </a:extLst>
          </p:cNvPr>
          <p:cNvSpPr txBox="1"/>
          <p:nvPr/>
        </p:nvSpPr>
        <p:spPr>
          <a:xfrm>
            <a:off x="545841" y="1971950"/>
            <a:ext cx="5514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/>
              <a:t>Σχεδιασμός και ανάπτυξη προϊόντος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8050D4-8AB2-F8E4-F95C-DF622B3E2AAA}"/>
              </a:ext>
            </a:extLst>
          </p:cNvPr>
          <p:cNvSpPr txBox="1"/>
          <p:nvPr/>
        </p:nvSpPr>
        <p:spPr>
          <a:xfrm>
            <a:off x="545841" y="5366556"/>
            <a:ext cx="5514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/>
              <a:t>Ενδεικτικά Έργα</a:t>
            </a:r>
          </a:p>
        </p:txBody>
      </p:sp>
    </p:spTree>
    <p:extLst>
      <p:ext uri="{BB962C8B-B14F-4D97-AF65-F5344CB8AC3E}">
        <p14:creationId xmlns:p14="http://schemas.microsoft.com/office/powerpoint/2010/main" val="469380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2BCC0-FD06-5331-A22A-A7EDB4F7F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407930-38D5-5375-4962-E37B954EEAE9}"/>
              </a:ext>
            </a:extLst>
          </p:cNvPr>
          <p:cNvSpPr txBox="1"/>
          <p:nvPr/>
        </p:nvSpPr>
        <p:spPr>
          <a:xfrm>
            <a:off x="-9331" y="-22324"/>
            <a:ext cx="2920482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highlight>
                  <a:srgbClr val="800080"/>
                </a:highlight>
              </a:rPr>
              <a:t>LANDING PAGE </a:t>
            </a:r>
            <a:r>
              <a:rPr lang="el-GR" sz="1400" dirty="0">
                <a:solidFill>
                  <a:schemeClr val="bg1"/>
                </a:solidFill>
                <a:highlight>
                  <a:srgbClr val="800080"/>
                </a:highlight>
              </a:rPr>
              <a:t>ΥΠΗΡΕΣΙΕΣ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C7BFA3-5C30-4E4F-4E9B-3358F845707C}"/>
              </a:ext>
            </a:extLst>
          </p:cNvPr>
          <p:cNvSpPr txBox="1"/>
          <p:nvPr/>
        </p:nvSpPr>
        <p:spPr>
          <a:xfrm>
            <a:off x="531845" y="979714"/>
            <a:ext cx="5514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/>
              <a:t>Μηχανουργικές Κατεργασίες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E1241E-5CD3-115C-FCC1-4AA80B0E99CB}"/>
              </a:ext>
            </a:extLst>
          </p:cNvPr>
          <p:cNvSpPr txBox="1"/>
          <p:nvPr/>
        </p:nvSpPr>
        <p:spPr>
          <a:xfrm>
            <a:off x="545841" y="3636611"/>
            <a:ext cx="5514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/>
              <a:t>Το Ταξίδι μας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A54AEB-ADB3-0B51-F430-2A42817920BF}"/>
              </a:ext>
            </a:extLst>
          </p:cNvPr>
          <p:cNvSpPr txBox="1"/>
          <p:nvPr/>
        </p:nvSpPr>
        <p:spPr>
          <a:xfrm>
            <a:off x="531845" y="4884870"/>
            <a:ext cx="5514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/>
              <a:t>Οι εγκαταστάσεις μας</a:t>
            </a:r>
          </a:p>
          <a:p>
            <a:endParaRPr lang="el-GR" b="1" dirty="0"/>
          </a:p>
          <a:p>
            <a:endParaRPr lang="el-GR" b="1" dirty="0"/>
          </a:p>
          <a:p>
            <a:r>
              <a:rPr lang="en-US" b="1" dirty="0"/>
              <a:t>Showroom</a:t>
            </a:r>
            <a:r>
              <a:rPr lang="el-GR" b="1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48B36F-E8B4-118C-7748-B9ACA2CE9CB2}"/>
              </a:ext>
            </a:extLst>
          </p:cNvPr>
          <p:cNvSpPr txBox="1"/>
          <p:nvPr/>
        </p:nvSpPr>
        <p:spPr>
          <a:xfrm>
            <a:off x="545841" y="1971950"/>
            <a:ext cx="551439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/>
              <a:t>Οι αξίες μας </a:t>
            </a:r>
          </a:p>
          <a:p>
            <a:r>
              <a:rPr lang="el-GR" sz="1600" dirty="0"/>
              <a:t>Ποιότητα – Καινοτομία</a:t>
            </a:r>
            <a:r>
              <a:rPr lang="en-US" sz="1600" dirty="0"/>
              <a:t> – </a:t>
            </a:r>
            <a:r>
              <a:rPr lang="el-GR" sz="1600" dirty="0"/>
              <a:t>Οι άνθρωποι μας - Βιωσιμότητα </a:t>
            </a:r>
          </a:p>
        </p:txBody>
      </p:sp>
    </p:spTree>
    <p:extLst>
      <p:ext uri="{BB962C8B-B14F-4D97-AF65-F5344CB8AC3E}">
        <p14:creationId xmlns:p14="http://schemas.microsoft.com/office/powerpoint/2010/main" val="3211444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F75B6-2057-4315-58E2-9C282C916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4053A5-22F0-4BF3-62E2-07308413F314}"/>
              </a:ext>
            </a:extLst>
          </p:cNvPr>
          <p:cNvSpPr txBox="1"/>
          <p:nvPr/>
        </p:nvSpPr>
        <p:spPr>
          <a:xfrm>
            <a:off x="-9331" y="-22324"/>
            <a:ext cx="2920482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highlight>
                  <a:srgbClr val="800080"/>
                </a:highlight>
              </a:rPr>
              <a:t>LANDING PAGE</a:t>
            </a:r>
            <a:r>
              <a:rPr lang="el-GR" sz="1400" dirty="0">
                <a:solidFill>
                  <a:schemeClr val="bg1"/>
                </a:solidFill>
                <a:highlight>
                  <a:srgbClr val="800080"/>
                </a:highlight>
              </a:rPr>
              <a:t> ΒΙΩΣΙΜΟΤΗΤΑ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0C432C-68ED-A0A5-EF63-A53343D01ED4}"/>
              </a:ext>
            </a:extLst>
          </p:cNvPr>
          <p:cNvSpPr txBox="1"/>
          <p:nvPr/>
        </p:nvSpPr>
        <p:spPr>
          <a:xfrm>
            <a:off x="531845" y="979714"/>
            <a:ext cx="5514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/>
              <a:t>ΤΙ ΚΑΝΟΥΜΕ ΓΙΑ ΤΟ ΠΕΡΙΒΑΛΛΟΝ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22C9F8-B805-0D6B-3C91-D4352A2D6D1D}"/>
              </a:ext>
            </a:extLst>
          </p:cNvPr>
          <p:cNvSpPr txBox="1"/>
          <p:nvPr/>
        </p:nvSpPr>
        <p:spPr>
          <a:xfrm>
            <a:off x="545841" y="1971950"/>
            <a:ext cx="5514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/>
              <a:t>ΤΙ ΚΑΝΟΥΜΕ ΓΙΑ ΤΟΥΣ ΑΝΘΡΩΠΟΥΣ ΜΑΣ</a:t>
            </a:r>
            <a:endParaRPr lang="el-GR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A58586-27B7-A8F4-649D-BB5BC0A763F7}"/>
              </a:ext>
            </a:extLst>
          </p:cNvPr>
          <p:cNvSpPr txBox="1"/>
          <p:nvPr/>
        </p:nvSpPr>
        <p:spPr>
          <a:xfrm>
            <a:off x="531845" y="3057411"/>
            <a:ext cx="5514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/>
              <a:t>ΤΙ ΚΑΝΟΥΜΕ ΓΙΑ ΤΗΝ ΚΟΙΝΩΝΙΑ</a:t>
            </a:r>
            <a:endParaRPr lang="el-GR" sz="1600" dirty="0"/>
          </a:p>
        </p:txBody>
      </p:sp>
    </p:spTree>
    <p:extLst>
      <p:ext uri="{BB962C8B-B14F-4D97-AF65-F5344CB8AC3E}">
        <p14:creationId xmlns:p14="http://schemas.microsoft.com/office/powerpoint/2010/main" val="2911540356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Θέμα του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Θέμα του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Θέμα του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244</TotalTime>
  <Words>346</Words>
  <Application>Microsoft Office PowerPoint</Application>
  <PresentationFormat>A4 Paper (210x297 mm)</PresentationFormat>
  <Paragraphs>151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Θέμα του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Lily Kokoti</dc:creator>
  <cp:lastModifiedBy>Ioannis Karapanagiotis</cp:lastModifiedBy>
  <cp:revision>9</cp:revision>
  <dcterms:created xsi:type="dcterms:W3CDTF">2026-02-17T14:17:56Z</dcterms:created>
  <dcterms:modified xsi:type="dcterms:W3CDTF">2026-04-22T15:11:58Z</dcterms:modified>
</cp:coreProperties>
</file>